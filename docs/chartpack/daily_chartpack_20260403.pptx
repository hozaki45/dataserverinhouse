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E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371600" y="1828800"/>
            <a:ext cx="9144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>
                <a:solidFill>
                  <a:srgbClr val="F0F2F5"/>
                </a:solidFill>
              </a:defRPr>
            </a:pPr>
            <a:r>
              <a:t>Daily Market Report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301752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0">
                <a:solidFill>
                  <a:srgbClr val="0EA5E9"/>
                </a:solidFill>
              </a:defRPr>
            </a:pPr>
            <a:r>
              <a:t>Trade Date: 2026-04-03</a:t>
            </a:r>
          </a:p>
        </p:txBody>
      </p:sp>
      <p:sp>
        <p:nvSpPr>
          <p:cNvPr id="5" name="Rectangle 4"/>
          <p:cNvSpPr/>
          <p:nvPr/>
        </p:nvSpPr>
        <p:spPr>
          <a:xfrm>
            <a:off x="4114800" y="3840480"/>
            <a:ext cx="3931920" cy="36576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71600" y="411480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8B929A"/>
                </a:solidFill>
              </a:defRPr>
            </a:pPr>
            <a:r>
              <a:t>JPX Derivative &amp; Commodity Analytics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" y="621792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B929A"/>
                </a:solidFill>
              </a:defRPr>
            </a:pPr>
            <a:r>
              <a:t>DataServer In-House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E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418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54864" cy="86868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109728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0F2F5"/>
                </a:solidFill>
              </a:defRPr>
            </a:pPr>
            <a:r>
              <a:t>Power Forward Curves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50292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8B929A"/>
                </a:solidFill>
              </a:defRPr>
            </a:pPr>
            <a:r>
              <a:t>East/West Base &amp; Peak monthly contracts (2026-04-03)</a:t>
            </a:r>
          </a:p>
        </p:txBody>
      </p:sp>
      <p:pic>
        <p:nvPicPr>
          <p:cNvPr id="6" name="Picture 5" descr="power_forwar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960120"/>
            <a:ext cx="11643055" cy="562356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E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418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54864" cy="86868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109728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0F2F5"/>
                </a:solidFill>
              </a:defRPr>
            </a:pPr>
            <a:r>
              <a:t>Commodity Snapshot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50292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8B929A"/>
                </a:solidFill>
              </a:defRPr>
            </a:pPr>
            <a:r>
              <a:t>Front-month settlement prices as of 2026-04-03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365760" y="1051560"/>
          <a:ext cx="9509760" cy="526694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80160"/>
                <a:gridCol w="2286000"/>
                <a:gridCol w="1188720"/>
                <a:gridCol w="1371600"/>
                <a:gridCol w="1188720"/>
                <a:gridCol w="1188720"/>
                <a:gridCol w="1005840"/>
              </a:tblGrid>
              <a:tr h="292608"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0F2F5"/>
                          </a:solidFill>
                        </a:defRPr>
                      </a:pPr>
                      <a:r>
                        <a:t>Category</a:t>
                      </a:r>
                    </a:p>
                  </a:txBody>
                  <a:tcPr anchor="ctr"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0F2F5"/>
                          </a:solidFill>
                        </a:defRPr>
                      </a:pPr>
                      <a:r>
                        <a:t>Asset</a:t>
                      </a:r>
                    </a:p>
                  </a:txBody>
                  <a:tcPr anchor="ctr"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0F2F5"/>
                          </a:solidFill>
                        </a:defRPr>
                      </a:pPr>
                      <a:r>
                        <a:t>Contract</a:t>
                      </a:r>
                    </a:p>
                  </a:txBody>
                  <a:tcPr anchor="ctr"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0F2F5"/>
                          </a:solidFill>
                        </a:defRPr>
                      </a:pPr>
                      <a:r>
                        <a:t>Settlement</a:t>
                      </a:r>
                    </a:p>
                  </a:txBody>
                  <a:tcPr anchor="ctr"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0F2F5"/>
                          </a:solidFill>
                        </a:defRPr>
                      </a:pPr>
                      <a:r>
                        <a:t>Unit</a:t>
                      </a:r>
                    </a:p>
                  </a:txBody>
                  <a:tcPr anchor="ctr"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0F2F5"/>
                          </a:solidFill>
                        </a:defRPr>
                      </a:pPr>
                      <a:r>
                        <a:t>Change</a:t>
                      </a:r>
                    </a:p>
                  </a:txBody>
                  <a:tcPr anchor="ctr"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0F2F5"/>
                          </a:solidFill>
                        </a:defRPr>
                      </a:pPr>
                      <a:r>
                        <a:t>% Chg</a:t>
                      </a:r>
                    </a:p>
                  </a:txBody>
                  <a:tcPr anchor="ctr">
                    <a:solidFill>
                      <a:srgbClr val="2563EB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Energy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Barge Gas Oil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202605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110,400.00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JPY/kl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0B981"/>
                          </a:solidFill>
                        </a:defRPr>
                      </a:pPr>
                      <a:r>
                        <a:t>+5500.00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0B981"/>
                          </a:solidFill>
                        </a:defRPr>
                      </a:pPr>
                      <a:r>
                        <a:t>+5.24%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Energy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Barge Gasoline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202605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130,000.00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JPY/kl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EF4444"/>
                          </a:solidFill>
                        </a:defRPr>
                      </a:pPr>
                      <a:r>
                        <a:t>-20000.00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EF4444"/>
                          </a:solidFill>
                        </a:defRPr>
                      </a:pPr>
                      <a:r>
                        <a:t>-13.33%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Energy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Barge Kerosene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202605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120,000.00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JPY/kl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EF4444"/>
                          </a:solidFill>
                        </a:defRPr>
                      </a:pPr>
                      <a:r>
                        <a:t>-20000.00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EF4444"/>
                          </a:solidFill>
                        </a:defRPr>
                      </a:pPr>
                      <a:r>
                        <a:t>-14.29%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Energy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Chukyo Gasoline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202605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120,000.00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JPY/kl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EF4444"/>
                          </a:solidFill>
                        </a:defRPr>
                      </a:pPr>
                      <a:r>
                        <a:t>-20000.00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EF4444"/>
                          </a:solidFill>
                        </a:defRPr>
                      </a:pPr>
                      <a:r>
                        <a:t>-14.29%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Energy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Chukyo Kerosene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202605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110,000.00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JPY/kl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EF4444"/>
                          </a:solidFill>
                        </a:defRPr>
                      </a:pPr>
                      <a:r>
                        <a:t>-20000.00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EF4444"/>
                          </a:solidFill>
                        </a:defRPr>
                      </a:pPr>
                      <a:r>
                        <a:t>-15.38%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Energy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Dubai Crude Oil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202604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120,810.00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JPY/kl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EF4444"/>
                          </a:solidFill>
                        </a:defRPr>
                      </a:pPr>
                      <a:r>
                        <a:t>-6860.00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EF4444"/>
                          </a:solidFill>
                        </a:defRPr>
                      </a:pPr>
                      <a:r>
                        <a:t>-5.37%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Energy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LNG (Platts JKM)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202605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3,130.00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USD/MMBtu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EF4444"/>
                          </a:solidFill>
                        </a:defRPr>
                      </a:pPr>
                      <a:r>
                        <a:t>-64.00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EF4444"/>
                          </a:solidFill>
                        </a:defRPr>
                      </a:pPr>
                      <a:r>
                        <a:t>-2.00%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Metals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Gold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-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23,801.00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JPY/g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0B981"/>
                          </a:solidFill>
                        </a:defRPr>
                      </a:pPr>
                      <a:r>
                        <a:t>+1098.00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0B981"/>
                          </a:solidFill>
                        </a:defRPr>
                      </a:pPr>
                      <a:r>
                        <a:t>+4.84%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Metals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Palladium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202604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7,300.00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JPY/g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0B981"/>
                          </a:solidFill>
                        </a:defRPr>
                      </a:pPr>
                      <a:r>
                        <a:t>+100.00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0B981"/>
                          </a:solidFill>
                        </a:defRPr>
                      </a:pPr>
                      <a:r>
                        <a:t>+1.39%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Metals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Platinum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-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9,707.00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JPY/g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0B981"/>
                          </a:solidFill>
                        </a:defRPr>
                      </a:pPr>
                      <a:r>
                        <a:t>+374.00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0B981"/>
                          </a:solidFill>
                        </a:defRPr>
                      </a:pPr>
                      <a:r>
                        <a:t>+4.01%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Metals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Silver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202604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360.00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JPY/10g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+0.00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+0.00%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Industrial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Rubber (RSS3)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202604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378.60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JPY/kg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0B981"/>
                          </a:solidFill>
                        </a:defRPr>
                      </a:pPr>
                      <a:r>
                        <a:t>+13.60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0B981"/>
                          </a:solidFill>
                        </a:defRPr>
                      </a:pPr>
                      <a:r>
                        <a:t>+3.73%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Industrial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Rubber (TSR20)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202605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312.00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JPY/kg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+0.00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+0.00%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Industrial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Shanghai Natural Rubber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202605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16,905.00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JPY/kg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0B981"/>
                          </a:solidFill>
                        </a:defRPr>
                      </a:pPr>
                      <a:r>
                        <a:t>+370.00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0B981"/>
                          </a:solidFill>
                        </a:defRPr>
                      </a:pPr>
                      <a:r>
                        <a:t>+2.24%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Agriculture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Azuki Beans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202604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12,300.00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JPY/bag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+0.00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+0.00%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Agriculture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Corn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202605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39,000.00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JPY/t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+0.00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+0.00%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Agriculture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Soybeans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202604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64,000.00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JPY/t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+0.00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+0.00%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E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418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54864" cy="86868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109728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0F2F5"/>
                </a:solidFill>
              </a:defRPr>
            </a:pPr>
            <a:r>
              <a:t>Precious Metals Forward Curves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50292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8B929A"/>
                </a:solidFill>
              </a:defRPr>
            </a:pPr>
            <a:r>
              <a:t>Gold &amp; Platinum (2026-04-03)</a:t>
            </a:r>
          </a:p>
        </p:txBody>
      </p:sp>
      <p:pic>
        <p:nvPicPr>
          <p:cNvPr id="6" name="Picture 5" descr="metals_forwar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960120"/>
            <a:ext cx="11643055" cy="562356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E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418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54864" cy="86868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109728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0F2F5"/>
                </a:solidFill>
              </a:defRPr>
            </a:pPr>
            <a:r>
              <a:t>Energy Commodity Forward Curves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50292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8B929A"/>
                </a:solidFill>
              </a:defRPr>
            </a:pPr>
            <a:r>
              <a:t>Dubai Crude Oil &amp; LNG Platts JKM (2026-04-03)</a:t>
            </a:r>
          </a:p>
        </p:txBody>
      </p:sp>
      <p:pic>
        <p:nvPicPr>
          <p:cNvPr id="6" name="Picture 5" descr="energy_forwar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960120"/>
            <a:ext cx="11643055" cy="562356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E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418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54864" cy="86868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109728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0F2F5"/>
                </a:solidFill>
              </a:defRPr>
            </a:pPr>
            <a:r>
              <a:t>Cross-Market Daily Changes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50292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8B929A"/>
                </a:solidFill>
              </a:defRPr>
            </a:pPr>
            <a:r>
              <a:t>All commodities sorted by absolute % change</a:t>
            </a:r>
          </a:p>
        </p:txBody>
      </p:sp>
      <p:pic>
        <p:nvPicPr>
          <p:cNvPr id="6" name="Picture 5" descr="cross_market_ba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960120"/>
            <a:ext cx="11643055" cy="562356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E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418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54864" cy="86868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109728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0F2F5"/>
                </a:solidFill>
              </a:defRPr>
            </a:pPr>
            <a:r>
              <a:t>Top Power Futures Movers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50292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8B929A"/>
                </a:solidFill>
              </a:defRPr>
            </a:pPr>
            <a:r>
              <a:t>Largest absolute settlement price changes vs previous day (2026-04-03)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274320" y="1051560"/>
          <a:ext cx="10149840" cy="468172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60320"/>
                <a:gridCol w="2286000"/>
                <a:gridCol w="1005840"/>
                <a:gridCol w="1097280"/>
                <a:gridCol w="1097280"/>
                <a:gridCol w="1097280"/>
                <a:gridCol w="1005840"/>
              </a:tblGrid>
              <a:tr h="292608"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0F2F5"/>
                          </a:solidFill>
                        </a:defRPr>
                      </a:pPr>
                      <a:r>
                        <a:t>Instrument</a:t>
                      </a:r>
                    </a:p>
                  </a:txBody>
                  <a:tcPr anchor="ctr"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0F2F5"/>
                          </a:solidFill>
                        </a:defRPr>
                      </a:pPr>
                      <a:r>
                        <a:t>Underlying</a:t>
                      </a:r>
                    </a:p>
                  </a:txBody>
                  <a:tcPr anchor="ctr"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0F2F5"/>
                          </a:solidFill>
                        </a:defRPr>
                      </a:pPr>
                      <a:r>
                        <a:t>Month</a:t>
                      </a:r>
                    </a:p>
                  </a:txBody>
                  <a:tcPr anchor="ctr"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0F2F5"/>
                          </a:solidFill>
                        </a:defRPr>
                      </a:pPr>
                      <a:r>
                        <a:t>Price</a:t>
                      </a:r>
                    </a:p>
                  </a:txBody>
                  <a:tcPr anchor="ctr"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0F2F5"/>
                          </a:solidFill>
                        </a:defRPr>
                      </a:pPr>
                      <a:r>
                        <a:t>Prev</a:t>
                      </a:r>
                    </a:p>
                  </a:txBody>
                  <a:tcPr anchor="ctr"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0F2F5"/>
                          </a:solidFill>
                        </a:defRPr>
                      </a:pPr>
                      <a:r>
                        <a:t>Change</a:t>
                      </a:r>
                    </a:p>
                  </a:txBody>
                  <a:tcPr anchor="ctr"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0F2F5"/>
                          </a:solidFill>
                        </a:defRPr>
                      </a:pPr>
                      <a:r>
                        <a:t>% Chg</a:t>
                      </a:r>
                    </a:p>
                  </a:txBody>
                  <a:tcPr anchor="ctr">
                    <a:solidFill>
                      <a:srgbClr val="2563EB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FUT_EEBW_260409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Power East Base (Weekly)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20260410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22.30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19.29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0B981"/>
                          </a:solidFill>
                        </a:defRPr>
                      </a:pPr>
                      <a:r>
                        <a:t>+3.01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0B981"/>
                          </a:solidFill>
                        </a:defRPr>
                      </a:pPr>
                      <a:r>
                        <a:t>+15.60%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FUT_EEPW_260428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Power East Peak (Weekly)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20260501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19.00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21.83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EF4444"/>
                          </a:solidFill>
                        </a:defRPr>
                      </a:pPr>
                      <a:r>
                        <a:t>-2.83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EF4444"/>
                          </a:solidFill>
                        </a:defRPr>
                      </a:pPr>
                      <a:r>
                        <a:t>-12.96%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FUT_EEB_260428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Power East Base (Monthly)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202604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21.83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19.54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0B981"/>
                          </a:solidFill>
                        </a:defRPr>
                      </a:pPr>
                      <a:r>
                        <a:t>+2.29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0B981"/>
                          </a:solidFill>
                        </a:defRPr>
                      </a:pPr>
                      <a:r>
                        <a:t>+11.72%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FUT_EEBW_260416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Power East Base (Weekly)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20260417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21.85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19.59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0B981"/>
                          </a:solidFill>
                        </a:defRPr>
                      </a:pPr>
                      <a:r>
                        <a:t>+2.26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0B981"/>
                          </a:solidFill>
                        </a:defRPr>
                      </a:pPr>
                      <a:r>
                        <a:t>+11.54%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FUT_EWPW_260428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Power West Peak (Weekly)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20260501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12.73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14.69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EF4444"/>
                          </a:solidFill>
                        </a:defRPr>
                      </a:pPr>
                      <a:r>
                        <a:t>-1.96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EF4444"/>
                          </a:solidFill>
                        </a:defRPr>
                      </a:pPr>
                      <a:r>
                        <a:t>-13.34%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FUT_EWP_260730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Power West Peak (Monthly)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202607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26.13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24.47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0B981"/>
                          </a:solidFill>
                        </a:defRPr>
                      </a:pPr>
                      <a:r>
                        <a:t>+1.66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0B981"/>
                          </a:solidFill>
                        </a:defRPr>
                      </a:pPr>
                      <a:r>
                        <a:t>+6.78%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FUT_EEB_260730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Power East Base (Monthly)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202607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23.60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22.07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0B981"/>
                          </a:solidFill>
                        </a:defRPr>
                      </a:pPr>
                      <a:r>
                        <a:t>+1.53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0B981"/>
                          </a:solidFill>
                        </a:defRPr>
                      </a:pPr>
                      <a:r>
                        <a:t>+6.93%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FUT_EEP_260428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Power East Peak (Monthly)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202604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22.79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21.29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0B981"/>
                          </a:solidFill>
                        </a:defRPr>
                      </a:pPr>
                      <a:r>
                        <a:t>+1.50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0B981"/>
                          </a:solidFill>
                        </a:defRPr>
                      </a:pPr>
                      <a:r>
                        <a:t>+7.05%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FUT_EWB_260730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Power West Base (Monthly)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202607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19.85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18.35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0B981"/>
                          </a:solidFill>
                        </a:defRPr>
                      </a:pPr>
                      <a:r>
                        <a:t>+1.50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0B981"/>
                          </a:solidFill>
                        </a:defRPr>
                      </a:pPr>
                      <a:r>
                        <a:t>+8.17%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FUT_EWP_261228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Power West Peak (Monthly)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202612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18.93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20.42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EF4444"/>
                          </a:solidFill>
                        </a:defRPr>
                      </a:pPr>
                      <a:r>
                        <a:t>-1.49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EF4444"/>
                          </a:solidFill>
                        </a:defRPr>
                      </a:pPr>
                      <a:r>
                        <a:t>-7.30%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FUT_EWP_271228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Power West Peak (Monthly)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202712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15.18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16.64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EF4444"/>
                          </a:solidFill>
                        </a:defRPr>
                      </a:pPr>
                      <a:r>
                        <a:t>-1.46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EF4444"/>
                          </a:solidFill>
                        </a:defRPr>
                      </a:pPr>
                      <a:r>
                        <a:t>-8.77%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FUT_EEB_260929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Power East Base (Monthly)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202609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23.22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21.77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0B981"/>
                          </a:solidFill>
                        </a:defRPr>
                      </a:pPr>
                      <a:r>
                        <a:t>+1.45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0B981"/>
                          </a:solidFill>
                        </a:defRPr>
                      </a:pPr>
                      <a:r>
                        <a:t>+6.66%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FUT_EWBW_260409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Power West Base (Weekly)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20260410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15.87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14.42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0B981"/>
                          </a:solidFill>
                        </a:defRPr>
                      </a:pPr>
                      <a:r>
                        <a:t>+1.45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0B981"/>
                          </a:solidFill>
                        </a:defRPr>
                      </a:pPr>
                      <a:r>
                        <a:t>+10.06%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FUT_EEB_260828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Power East Base (Monthly)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202608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23.68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22.24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0B981"/>
                          </a:solidFill>
                        </a:defRPr>
                      </a:pPr>
                      <a:r>
                        <a:t>+1.44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0B981"/>
                          </a:solidFill>
                        </a:defRPr>
                      </a:pPr>
                      <a:r>
                        <a:t>+6.47%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FUT_EEP_260929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Power East Peak (Monthly)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202609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29.22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27.78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0B981"/>
                          </a:solidFill>
                        </a:defRPr>
                      </a:pPr>
                      <a:r>
                        <a:t>+1.44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0B981"/>
                          </a:solidFill>
                        </a:defRPr>
                      </a:pPr>
                      <a:r>
                        <a:t>+5.18%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