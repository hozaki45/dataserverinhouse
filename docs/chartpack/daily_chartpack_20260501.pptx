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0F2F5"/>
                </a:solidFill>
              </a:defRPr>
            </a:pPr>
            <a:r>
              <a:t>Daily Market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EA5E9"/>
                </a:solidFill>
              </a:defRPr>
            </a:pPr>
            <a:r>
              <a:t>Trade Date: 2026-05-01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840480"/>
            <a:ext cx="393192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114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B929A"/>
                </a:solidFill>
              </a:defRPr>
            </a:pPr>
            <a:r>
              <a:t>JPX Derivative &amp; Commodity Analytics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217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29A"/>
                </a:solidFill>
              </a:defRPr>
            </a:pPr>
            <a:r>
              <a:t>DataServer In-House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2F5"/>
                </a:solidFill>
              </a:defRPr>
            </a:pPr>
            <a:r>
              <a:t>Power Forward Curves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29A"/>
                </a:solidFill>
              </a:defRPr>
            </a:pPr>
            <a:r>
              <a:t>East/West Base &amp; Peak monthly contracts (2026-05-01)</a:t>
            </a:r>
          </a:p>
        </p:txBody>
      </p:sp>
      <p:pic>
        <p:nvPicPr>
          <p:cNvPr id="6" name="Picture 5" descr="power_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43055" cy="56235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2F5"/>
                </a:solidFill>
              </a:defRPr>
            </a:pPr>
            <a:r>
              <a:t>Commodity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29A"/>
                </a:solidFill>
              </a:defRPr>
            </a:pPr>
            <a:r>
              <a:t>Front-month settlement prices as of 2026-05-01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51560"/>
          <a:ext cx="9509760" cy="5266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286000"/>
                <a:gridCol w="1188720"/>
                <a:gridCol w="1371600"/>
                <a:gridCol w="1188720"/>
                <a:gridCol w="118872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Asset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Contract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Settlement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Unit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Change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% Chg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Barge Gas Oil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202606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112,300.00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JPY/kl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-700.00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-0.62%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Barge Gasoline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202606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100,000.00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JPY/kl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Barge Kerosene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202606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105,000.00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JPY/kl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Chukyo Gasoline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202606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100,000.00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JPY/kl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Chukyo Kerosene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202606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105,000.00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JPY/kl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Dubai Crude Oil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202605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102,920.00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JPY/kl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-3100.00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-2.92%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LNG (Platts JKM)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202606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2,763.00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USD/MMBtu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-66.00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-2.33%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Metals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Gold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23,167.00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JPY/g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-267.00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-1.14%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Metals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Palladium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202606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7,600.00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JPY/g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Metals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Platinum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9,801.00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JPY/g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+55.00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+0.56%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Metals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Silver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202606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380.00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JPY/10g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Industrial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Rubber (RSS3)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202605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396.00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JPY/kg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-0.10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-0.03%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Industrial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Rubber (TSR20)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202606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330.00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JPY/kg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Industrial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Shanghai Natural Rubber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202605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17,425.00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JPY/kg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+565.00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+3.35%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Agriculture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Azuki Beans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202605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12,300.00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JPY/bag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Agriculture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Corn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202607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39,000.00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JPY/t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Agriculture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Soybeans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202606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64,000.00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JPY/t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2F5"/>
                </a:solidFill>
              </a:defRPr>
            </a:pPr>
            <a:r>
              <a:t>Precious Metals Forward Curves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29A"/>
                </a:solidFill>
              </a:defRPr>
            </a:pPr>
            <a:r>
              <a:t>Gold &amp; Platinum (2026-05-01)</a:t>
            </a:r>
          </a:p>
        </p:txBody>
      </p:sp>
      <p:pic>
        <p:nvPicPr>
          <p:cNvPr id="6" name="Picture 5" descr="metals_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43055" cy="5623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2F5"/>
                </a:solidFill>
              </a:defRPr>
            </a:pPr>
            <a:r>
              <a:t>Energy Commodity Forward Curves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29A"/>
                </a:solidFill>
              </a:defRPr>
            </a:pPr>
            <a:r>
              <a:t>Dubai Crude Oil &amp; LNG Platts JKM (2026-05-01)</a:t>
            </a:r>
          </a:p>
        </p:txBody>
      </p:sp>
      <p:pic>
        <p:nvPicPr>
          <p:cNvPr id="6" name="Picture 5" descr="energy_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43055" cy="56235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2F5"/>
                </a:solidFill>
              </a:defRPr>
            </a:pPr>
            <a:r>
              <a:t>Cross-Market Daily Changes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29A"/>
                </a:solidFill>
              </a:defRPr>
            </a:pPr>
            <a:r>
              <a:t>All commodities sorted by absolute % change</a:t>
            </a:r>
          </a:p>
        </p:txBody>
      </p:sp>
      <p:pic>
        <p:nvPicPr>
          <p:cNvPr id="6" name="Picture 5" descr="cross_market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43055" cy="5623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2F5"/>
                </a:solidFill>
              </a:defRPr>
            </a:pPr>
            <a:r>
              <a:t>Top Power Futures Movers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29A"/>
                </a:solidFill>
              </a:defRPr>
            </a:pPr>
            <a:r>
              <a:t>Largest absolute settlement price changes vs previous day (2026-05-01)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051560"/>
          <a:ext cx="10149840" cy="4681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286000"/>
                <a:gridCol w="1005840"/>
                <a:gridCol w="1097280"/>
                <a:gridCol w="1097280"/>
                <a:gridCol w="109728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Instrument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Underlying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Month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Price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Prev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Change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% Chg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FUT_EWP_260528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Peak (Monthly)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202605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13.39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12.41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+0.98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+7.90%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FUT_EWP_260929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Peak (Monthly)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202609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23.90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23.14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+0.76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+3.28%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FUT_EWP_260730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Peak (Monthly)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202607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25.08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24.40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+0.68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+2.79%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FUT_EWP_260828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Peak (Monthly)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202608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24.83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24.15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+0.68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+2.82%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FUT_EWPW_260521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Peak (Weekly)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20260522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11.69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11.01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+0.68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+6.18%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FUT_ECP_260929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電力(中部・日中)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202609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25.69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25.04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+0.65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+2.60%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FUT_EEP_260929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Peak (Monthly)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202609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26.57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25.92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+0.65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+2.51%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FUT_EWP_261029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Peak (Monthly)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202610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17.87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17.22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+0.65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+3.77%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FUT_EWPW_260528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Peak (Weekly)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20260529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12.48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11.83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+0.65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+5.49%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FUT_EEP_270128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Peak (Monthly)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202701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21.11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20.48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+0.63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+3.08%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FUT_EEPW_260604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Peak (Weekly)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20260605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21.76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21.13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+0.63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+2.98%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FUT_ECB_261230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電力(中部・ベース)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202612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17.43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16.82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+0.61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+3.63%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FUT_EEP_260730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Peak (Monthly)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202607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27.58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26.97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+0.61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+2.26%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FUT_EWP_270428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Peak (Monthly)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202704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13.67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13.06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+0.61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+4.67%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FUT_EEB_260929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Base (Monthly)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202609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20.97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20.37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+0.60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+2.95%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