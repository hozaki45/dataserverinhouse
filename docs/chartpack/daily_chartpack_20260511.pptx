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0F2F5"/>
                </a:solidFill>
              </a:defRPr>
            </a:pPr>
            <a:r>
              <a:t>Daily Market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0175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0EA5E9"/>
                </a:solidFill>
              </a:defRPr>
            </a:pPr>
            <a:r>
              <a:t>Trade Date: 2026-05-11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3840480"/>
            <a:ext cx="3931920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29A"/>
                </a:solidFill>
              </a:defRPr>
            </a:pPr>
            <a:r>
              <a:t>JPX Derivative &amp; Commodity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217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8B929A"/>
                </a:solidFill>
              </a:defRPr>
            </a:pPr>
            <a:r>
              <a:t>DataServer In-House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Power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East/West Base &amp; Peak monthly contracts (2026-05-11)</a:t>
            </a:r>
          </a:p>
        </p:txBody>
      </p:sp>
      <p:pic>
        <p:nvPicPr>
          <p:cNvPr id="6" name="Picture 5" descr="power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Commodity Snapshot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Front-month settlement prices as of 2026-05-11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51560"/>
          <a:ext cx="9509760" cy="52669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286000"/>
                <a:gridCol w="1188720"/>
                <a:gridCol w="1371600"/>
                <a:gridCol w="1188720"/>
                <a:gridCol w="118872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Asset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Contract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Settlement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Unit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 Oil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111,200.00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-500.00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Barge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Gasoline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100,000.00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Chukyo Kerosene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105,000.00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Dubai Crude Oil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99,800.00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+4270.00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+4.47%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LNG (Platts JKM)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2,700.00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USD/MMBtu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-6.00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-0.22%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Gold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23,463.00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-291.00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-1.23%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Palladium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7,500.00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-1.32%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Platinum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10,164.00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-163.00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-1.58%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Metals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Silver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JPY/10g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(RSS3)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396.50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-7.20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-1.78%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Rubber (TSR20)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340.00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Industrial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Shanghai Natural Rubber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17,750.00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JPY/kg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-105.00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-0.59%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Azuki 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12,300.00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JPY/bag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Corn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202607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39,000.00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Soybeans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64,000.00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JPY/t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+0.00%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Precious Metals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Gold &amp; Platinum (2026-05-11)</a:t>
            </a:r>
          </a:p>
        </p:txBody>
      </p:sp>
      <p:pic>
        <p:nvPicPr>
          <p:cNvPr id="6" name="Picture 5" descr="metals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Energy Commodity Forward Curves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Dubai Crude Oil &amp; LNG Platts JKM (2026-05-11)</a:t>
            </a:r>
          </a:p>
        </p:txBody>
      </p:sp>
      <p:pic>
        <p:nvPicPr>
          <p:cNvPr id="6" name="Picture 5" descr="energy_forw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Cross-Market Daily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All commodities sorted by absolute % change</a:t>
            </a:r>
          </a:p>
        </p:txBody>
      </p:sp>
      <p:pic>
        <p:nvPicPr>
          <p:cNvPr id="6" name="Picture 5" descr="cross_mark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43055" cy="56235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8686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09728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2F5"/>
                </a:solidFill>
              </a:defRPr>
            </a:pPr>
            <a:r>
              <a:t>Top Power Futures Movers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02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8B929A"/>
                </a:solidFill>
              </a:defRPr>
            </a:pPr>
            <a:r>
              <a:t>Largest absolute settlement price changes vs previous day (2026-05-11)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051560"/>
          <a:ext cx="10149840" cy="4681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286000"/>
                <a:gridCol w="1005840"/>
                <a:gridCol w="1097280"/>
                <a:gridCol w="1097280"/>
                <a:gridCol w="1097280"/>
                <a:gridCol w="1005840"/>
              </a:tblGrid>
              <a:tr h="29260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Instrument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Underlying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Month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Price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Prev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Change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0F2F5"/>
                          </a:solidFill>
                        </a:defRPr>
                      </a:pPr>
                      <a:r>
                        <a:t>% Chg</a:t>
                      </a:r>
                    </a:p>
                  </a:txBody>
                  <a:tcPr anchor="ctr">
                    <a:solidFill>
                      <a:srgbClr val="2563E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FUT_EEBW_260514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20260515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15.73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17.40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-1.67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-9.60%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FUT_EWPW_260514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20260515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12.28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11.44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+0.84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+7.34%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FUT_EWBW_260514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20260515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11.11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11.63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-0.52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-4.47%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FUT_EEBW_260521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17.91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18.40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-2.66%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FUT_EWPW_260611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20260612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18.47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+0.42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+2.33%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FUT_ECP_260929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24.69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24.28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+0.41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+1.69%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FUT_EEPW_260528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19.58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19.99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-0.41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-2.05%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FUT_EWPW_260604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17.06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16.65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+0.41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+2.46%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FUT_EWBW_260611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20260612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15.21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14.84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+2.49%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FUT_EWBW_260604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20260605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14.58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14.26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+0.32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+2.24%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FUT_EEP_261029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(Monthly)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202610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20.93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21.23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-0.30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-1.41%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FUT_EEPW_260521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Peak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18.56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18.85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-0.29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-1.54%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FUT_EEBW_260528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East Base (Weekly)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18.01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18.29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-0.28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EF4444"/>
                          </a:solidFill>
                        </a:defRPr>
                      </a:pPr>
                      <a:r>
                        <a:t>-1.53%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FUT_EWBW_260521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Power West Base (Weekly)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20260522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12.09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11.81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+0.28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+2.37%</a:t>
                      </a:r>
                    </a:p>
                  </a:txBody>
                  <a:tcPr anchor="ctr">
                    <a:solidFill>
                      <a:srgbClr val="1A1F2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FUT_ECP_260528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電力(中部・日中)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202605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15.95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F0F2F5"/>
                          </a:solidFill>
                        </a:defRPr>
                      </a:pPr>
                      <a:r>
                        <a:t>15.68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+0.27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10B981"/>
                          </a:solidFill>
                        </a:defRPr>
                      </a:pPr>
                      <a:r>
                        <a:t>+1.72%</a:t>
                      </a:r>
                    </a:p>
                  </a:txBody>
                  <a:tcPr anchor="ctr">
                    <a:solidFill>
                      <a:srgbClr val="14182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