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0F2F5"/>
                </a:solidFill>
              </a:defRPr>
            </a:pPr>
            <a:r>
              <a:t>Daily Market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EA5E9"/>
                </a:solidFill>
              </a:defRPr>
            </a:pPr>
            <a:r>
              <a:t>Trade Date: 2026-05-21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840480"/>
            <a:ext cx="39319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29A"/>
                </a:solidFill>
              </a:defRPr>
            </a:pPr>
            <a:r>
              <a:t>JPX Derivative &amp; Commodity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29A"/>
                </a:solidFill>
              </a:defRPr>
            </a:pPr>
            <a:r>
              <a:t>DataServer In-House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Power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East/West Base &amp; Peak monthly contracts (2026-05-21)</a:t>
            </a:r>
          </a:p>
        </p:txBody>
      </p:sp>
      <p:pic>
        <p:nvPicPr>
          <p:cNvPr id="6" name="Picture 5" descr="power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Commodity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Front-month settlement prices as of 2026-05-21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51560"/>
          <a:ext cx="9509760" cy="526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286000"/>
                <a:gridCol w="1188720"/>
                <a:gridCol w="1371600"/>
                <a:gridCol w="1188720"/>
                <a:gridCol w="118872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Asset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Settlement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 Oil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109,700.00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100,000.00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100,000.00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Dubai Crude Oil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102,760.00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-1970.00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-1.88%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LNG (Platts JKM)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3,001.00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USD/MMBtu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-130.00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-4.15%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23,004.00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+314.00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+1.38%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Palladium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7,000.00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Platinum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9,753.00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+96.00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+0.99%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Silver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JPY/10g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(RSS3)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397.00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(TSR20)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350.00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Shanghai Natural Rubber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17,470.00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-260.00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-1.47%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Azuki 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12,300.00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JPY/bag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Corn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Soybeans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64,000.00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Precious Metals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Gold &amp; Platinum (2026-05-21)</a:t>
            </a:r>
          </a:p>
        </p:txBody>
      </p:sp>
      <p:pic>
        <p:nvPicPr>
          <p:cNvPr id="6" name="Picture 5" descr="metals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Energy Commodity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Dubai Crude Oil &amp; LNG Platts JKM (2026-05-21)</a:t>
            </a:r>
          </a:p>
        </p:txBody>
      </p:sp>
      <p:pic>
        <p:nvPicPr>
          <p:cNvPr id="6" name="Picture 5" descr="energy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Cross-Market Daily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All commodities sorted by absolute % change</a:t>
            </a:r>
          </a:p>
        </p:txBody>
      </p:sp>
      <p:pic>
        <p:nvPicPr>
          <p:cNvPr id="6" name="Picture 5" descr="cross_marke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Top Power Futures Movers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Largest absolute settlement price changes vs previous day (2026-05-21)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51560"/>
          <a:ext cx="10149840" cy="4681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286000"/>
                <a:gridCol w="1005840"/>
                <a:gridCol w="1097280"/>
                <a:gridCol w="1097280"/>
                <a:gridCol w="109728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Instrument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Underlying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Price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Prev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FUT_EWPW_260521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20260522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23.01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21.81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+1.20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+5.50%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FUT_ECP_260929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27.47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26.43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+3.93%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FUT_EEPW_260521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20260522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24.45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23.52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+0.93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+3.95%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FUT_ECP_260730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27.58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26.66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+0.92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+3.45%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FUT_ECB_260929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電力(中部・ベース)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21.66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20.77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+0.89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+4.29%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FUT_EEP_260929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28.47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27.74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+0.73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+2.63%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FUT_ECP_260828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27.82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27.10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+0.72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+2.66%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FUT_EWP_260528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17.38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16.66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+0.72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+4.32%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FUT_ECB_260730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電力(中部・ベース)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21.41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+0.66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+3.08%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FUT_EWBW_260521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20260522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16.60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15.94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+0.66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+4.14%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FUT_ECP_260528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18.85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18.20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+0.65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+3.57%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FUT_EEP_260730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29.93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29.28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+0.65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+2.22%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FUT_EWPW_260528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14.66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14.05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+0.61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+4.34%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FUT_EEB_260730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23.50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22.90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+0.60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+2.62%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FUT_ECB_260828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電力(中部・ベース)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21.52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+0.53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+2.46%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