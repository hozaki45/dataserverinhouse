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0F2F5"/>
                </a:solidFill>
              </a:defRPr>
            </a:pPr>
            <a:r>
              <a:t>Daily Market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EA5E9"/>
                </a:solidFill>
              </a:defRPr>
            </a:pPr>
            <a:r>
              <a:t>Trade Date: 2026-04-22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840480"/>
            <a:ext cx="39319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29A"/>
                </a:solidFill>
              </a:defRPr>
            </a:pPr>
            <a:r>
              <a:t>JPX Derivative &amp; Commodity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217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29A"/>
                </a:solidFill>
              </a:defRPr>
            </a:pPr>
            <a:r>
              <a:t>DataServer In-House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Power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East/West Base &amp; Peak monthly contracts (2026-04-22)</a:t>
            </a:r>
          </a:p>
        </p:txBody>
      </p:sp>
      <p:pic>
        <p:nvPicPr>
          <p:cNvPr id="6" name="Picture 5" descr="power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Commodity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Front-month settlement prices as of 2026-04-22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051560"/>
          <a:ext cx="9509760" cy="5266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286000"/>
                <a:gridCol w="1188720"/>
                <a:gridCol w="1371600"/>
                <a:gridCol w="1188720"/>
                <a:gridCol w="118872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Asset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Contract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Settlement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Unit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% Chg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Gas Oil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114,900.00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Gasoline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105,000.00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Kerosene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105,000.00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Chukyo Gasoline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105,000.00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Chukyo Kerosene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105,000.00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Dubai Crude Oil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103,510.00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+2290.00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+2.26%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LNG (Platts JKM)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2,511.00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USD/MMBtu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+123.00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+5.15%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Gold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24,331.00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-155.00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-0.63%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Palladium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8,000.00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Platinum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10,492.00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-52.00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-0.49%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Silver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383.10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JPY/10g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Rubber (RSS3)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379.80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Rubber (TSR20)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325.00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Shanghai Natural Rubber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17,065.00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+130.00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+0.77%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Azuki Beans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12,300.00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JPY/bag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Corn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39,000.00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JPY/t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Soybeans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64,000.00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JPY/t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Precious Metals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Gold &amp; Platinum (2026-04-22)</a:t>
            </a:r>
          </a:p>
        </p:txBody>
      </p:sp>
      <p:pic>
        <p:nvPicPr>
          <p:cNvPr id="6" name="Picture 5" descr="metals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Energy Commodity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Dubai Crude Oil &amp; LNG Platts JKM (2026-04-22)</a:t>
            </a:r>
          </a:p>
        </p:txBody>
      </p:sp>
      <p:pic>
        <p:nvPicPr>
          <p:cNvPr id="6" name="Picture 5" descr="energy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Cross-Market Daily 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All commodities sorted by absolute % change</a:t>
            </a:r>
          </a:p>
        </p:txBody>
      </p:sp>
      <p:pic>
        <p:nvPicPr>
          <p:cNvPr id="6" name="Picture 5" descr="cross_market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Top Power Futures Movers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Largest absolute settlement price changes vs previous day (2026-04-22)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051560"/>
          <a:ext cx="10149840" cy="4681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286000"/>
                <a:gridCol w="1005840"/>
                <a:gridCol w="1097280"/>
                <a:gridCol w="1097280"/>
                <a:gridCol w="109728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Instrument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Underlying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Month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Price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Prev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% Chg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FUT_EWPW_260423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20260424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14.43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12.03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+2.40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+19.95%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FUT_EWP_260730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23.47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25.32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-1.85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-7.31%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FUT_EWP_260828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23.13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24.97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-1.84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-7.37%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FUT_EWP_260929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22.23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24.02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-1.79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-7.45%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FUT_EEPW_260423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20260424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21.12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19.60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+1.52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+7.76%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FUT_EEB_270330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202703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14.45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15.29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-0.84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-5.49%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FUT_EWBW_260423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20260424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11.26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10.47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+0.79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+7.55%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FUT_EWBW_260521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20260522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11.68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12.23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-0.55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-4.50%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FUT_EEPW_260514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20260515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18.21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18.69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-0.48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-2.57%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FUT_EEP_260528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18.78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19.23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-0.45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-2.34%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FUT_EEP_270225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202702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18.92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19.36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-0.44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-2.27%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FUT_EEBW_260521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20260522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17.35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17.79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-0.44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-2.47%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FUT_EWPW_260521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20260522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10.97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11.41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-0.44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-3.86%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FUT_ECP_260629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電力(中部・日中)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20.39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20.82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-0.43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-2.07%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FUT_EEPW_260507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20260508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17.54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17.97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-0.43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-2.39%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