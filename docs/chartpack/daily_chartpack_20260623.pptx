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0F2F5"/>
                </a:solidFill>
              </a:defRPr>
            </a:pPr>
            <a:r>
              <a:t>Daily Market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EA5E9"/>
                </a:solidFill>
              </a:defRPr>
            </a:pPr>
            <a:r>
              <a:t>Trade Date: 2026-06-23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840480"/>
            <a:ext cx="39319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29A"/>
                </a:solidFill>
              </a:defRPr>
            </a:pPr>
            <a:r>
              <a:t>JPX Derivative &amp; Commodity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29A"/>
                </a:solidFill>
              </a:defRPr>
            </a:pPr>
            <a:r>
              <a:t>DataServer In-House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Power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East/West Base &amp; Peak monthly contracts (2026-06-23)</a:t>
            </a:r>
          </a:p>
        </p:txBody>
      </p:sp>
      <p:pic>
        <p:nvPicPr>
          <p:cNvPr id="6" name="Picture 5" descr="power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Commodity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Front-month settlement prices as of 2026-06-23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51560"/>
          <a:ext cx="9509760" cy="5266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286000"/>
                <a:gridCol w="1188720"/>
                <a:gridCol w="1371600"/>
                <a:gridCol w="1188720"/>
                <a:gridCol w="118872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Asset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Contract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Settlement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Unit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 Oil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105,100.00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98,000.00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109,000.00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94,000.00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-1.05%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Dubai Crude Oil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81,200.00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-0.25%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LNG (Platts JKM)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2,558.00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USD/MMBtu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+30.00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+1.19%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Gold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21,434.00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-228.00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-1.05%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Palladium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6,600.00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Platinum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8,527.00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+43.00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+0.51%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Silver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340.00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JPY/10g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(RSS3)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427.80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-4.30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(TSR20)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365.00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Shanghai Natural Rubber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17,500.00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-50.00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-0.28%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Azuki 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12,300.00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JPY/bag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Corn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39,000.00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Soybeans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64,000.00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Precious Metals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Gold &amp; Platinum (2026-06-23)</a:t>
            </a:r>
          </a:p>
        </p:txBody>
      </p:sp>
      <p:pic>
        <p:nvPicPr>
          <p:cNvPr id="6" name="Picture 5" descr="metals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Energy Commodity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Dubai Crude Oil &amp; LNG Platts JKM (2026-06-23)</a:t>
            </a:r>
          </a:p>
        </p:txBody>
      </p:sp>
      <p:pic>
        <p:nvPicPr>
          <p:cNvPr id="6" name="Picture 5" descr="energy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Cross-Market Daily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All commodities sorted by absolute % change</a:t>
            </a:r>
          </a:p>
        </p:txBody>
      </p:sp>
      <p:pic>
        <p:nvPicPr>
          <p:cNvPr id="6" name="Picture 5" descr="cross_marke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Top Power Futures Movers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Largest absolute settlement price changes vs previous day (2026-06-23)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051560"/>
          <a:ext cx="10149840" cy="4681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286000"/>
                <a:gridCol w="1005840"/>
                <a:gridCol w="1097280"/>
                <a:gridCol w="1097280"/>
                <a:gridCol w="109728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Instrument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Underlying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Month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Price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Prev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FUT_EEPW_260625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20260626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20.55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21.83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-5.86%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FUT_EWPW_260625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20260626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15.26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16.25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-0.99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-6.09%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FUT_EWPW_260702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20260703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19.44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19.99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-0.55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-2.75%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FUT_EEBW_260625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20260626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18.98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19.52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-0.54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-2.77%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FUT_EWP_270629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16.43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16.95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-0.52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-3.07%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FUT_EWB_270629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14.04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14.51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-0.47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-3.24%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FUT_EWP_270528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14.72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15.19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-0.47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-3.09%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FUT_EWBW_260625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20260626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12.63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13.09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-0.46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-3.51%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FUT_EWB_270528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13.02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13.46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-0.44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-3.27%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FUT_EWP_270428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(Monthly)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14.28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14.72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-0.44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-2.99%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FUT_EWB_270428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202704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13.23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13.65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-0.42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-3.08%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FUT_EEBW_260702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20260703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19.79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20.14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-0.35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-1.74%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FUT_EEP_260629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24.03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24.35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-0.32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-1.31%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FUT_ECP_260629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電力(中部・日中)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21.16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21.44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-1.31%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FUT_EEP_260730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25.19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25.45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-0.26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-1.02%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