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0F2F5"/>
                </a:solidFill>
              </a:defRPr>
            </a:pPr>
            <a:r>
              <a:t>Daily Market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EA5E9"/>
                </a:solidFill>
              </a:defRPr>
            </a:pPr>
            <a:r>
              <a:t>Trade Date: 2026-03-27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840480"/>
            <a:ext cx="39319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B929A"/>
                </a:solidFill>
              </a:defRPr>
            </a:pPr>
            <a:r>
              <a:t>JPX Derivative &amp; Commodity 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217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29A"/>
                </a:solidFill>
              </a:defRPr>
            </a:pPr>
            <a:r>
              <a:t>DataServer In-House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Power Forward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East/West Base &amp; Peak monthly contracts (2026-03-27)</a:t>
            </a:r>
          </a:p>
        </p:txBody>
      </p:sp>
      <p:pic>
        <p:nvPicPr>
          <p:cNvPr id="6" name="Picture 5" descr="power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Commodity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Front-month settlement prices as of 2026-03-27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51560"/>
          <a:ext cx="9509760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286000"/>
                <a:gridCol w="1188720"/>
                <a:gridCol w="1371600"/>
                <a:gridCol w="1188720"/>
                <a:gridCol w="118872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Asset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Settlement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% Chg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Barge Gas Oil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104,900.00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-3300.00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-3.05%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Barge Gasoline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150,000.00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Barge Kerosene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140,000.00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Chukyo Gasoline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140,000.00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Chukyo Kerosene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130,000.00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Dubai Crude Oil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202603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127,670.00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-4980.00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-3.75%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Energy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LNG (Platts JKM)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3,194.00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USD/MMBtu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+92.00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+2.97%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Metals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Gold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22,703.00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JPY/g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-676.00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-2.89%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Metals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Palladium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7,200.00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JPY/g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-300.00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-4.00%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Metals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Platinum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9,333.00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JPY/g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-35.00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EF4444"/>
                          </a:solidFill>
                        </a:defRPr>
                      </a:pPr>
                      <a:r>
                        <a:t>-0.37%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Metals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Silver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360.00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JPY/10g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Industrial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Rubber (RSS3)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365.00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JPY/kg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+4.00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+1.11%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Industrial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Rubber (TSR20)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312.00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JPY/kg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+5.00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+1.63%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Industrial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Shanghai Natural Rubber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16,535.00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JPY/kg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+65.00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+0.39%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Agriculture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Azuki Beans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12,300.00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JPY/bag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Agriculture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Corn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39,000.00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JPY/t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Agriculture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Soybeans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64,000.00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JPY/t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+0.00%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Precious Metals Forward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Gold &amp; Platinum (2026-03-27)</a:t>
            </a:r>
          </a:p>
        </p:txBody>
      </p:sp>
      <p:pic>
        <p:nvPicPr>
          <p:cNvPr id="6" name="Picture 5" descr="metals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Energy Commodity Forward Curves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Dubai Crude Oil &amp; LNG Platts JKM (2026-03-27)</a:t>
            </a:r>
          </a:p>
        </p:txBody>
      </p:sp>
      <p:pic>
        <p:nvPicPr>
          <p:cNvPr id="6" name="Picture 5" descr="energy_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Cross-Market Daily 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All commodities sorted by absolute % change</a:t>
            </a:r>
          </a:p>
        </p:txBody>
      </p:sp>
      <p:pic>
        <p:nvPicPr>
          <p:cNvPr id="6" name="Picture 5" descr="cross_market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43055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2F5"/>
                </a:solidFill>
              </a:defRPr>
            </a:pPr>
            <a:r>
              <a:t>Top Power Futures Movers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29A"/>
                </a:solidFill>
              </a:defRPr>
            </a:pPr>
            <a:r>
              <a:t>Largest absolute settlement price changes vs previous day (2026-03-27)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51560"/>
          <a:ext cx="10149840" cy="4681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286000"/>
                <a:gridCol w="1005840"/>
                <a:gridCol w="1097280"/>
                <a:gridCol w="1097280"/>
                <a:gridCol w="109728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Instrument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Underlying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Month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Price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Prev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0F2F5"/>
                          </a:solidFill>
                        </a:defRPr>
                      </a:pPr>
                      <a:r>
                        <a:t>% Chg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FUT_EEP_260828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Peak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202608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28.29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26.79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+1.50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+5.60%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FUT_EEP_260929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Peak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27.78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26.31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+1.47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+5.59%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FUT_EEP_260730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Peak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28.26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26.91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+1.35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+5.02%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FUT_EWP_261127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Peak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202611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19.62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18.33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+1.29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+7.04%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FUT_EWP_261029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Peak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202610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19.56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18.32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+1.24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+6.77%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FUT_EWB_261030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202610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16.96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15.73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+1.23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+7.82%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FUT_EWB_261127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202611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16.96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15.74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+1.22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+7.75%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FUT_EEB_260828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Base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22.24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21.08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+1.16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+5.50%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FUT_EEB_260730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22.07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20.92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+1.15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+5.50%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FUT_EWB_261230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202612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17.98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16.83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+1.15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+6.83%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FUT_EWB_270129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202701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18.14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17.02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+1.12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+6.58%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FUT_EEB_260929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Base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202609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21.77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20.67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+1.10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+5.32%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FUT_EEB_261230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202612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20.14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19.07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+1.07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+5.61%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FUT_EWP_270330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West Peak (Monthly)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202703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18.20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17.14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+1.06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+6.18%</a:t>
                      </a:r>
                    </a:p>
                  </a:txBody>
                  <a:tcPr anchor="ctr">
                    <a:solidFill>
                      <a:srgbClr val="1A1F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FUT_EEB_261127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Power East Base (Monthly)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202611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19.76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F0F2F5"/>
                          </a:solidFill>
                        </a:defRPr>
                      </a:pPr>
                      <a:r>
                        <a:t>18.72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+1.04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0B981"/>
                          </a:solidFill>
                        </a:defRPr>
                      </a:pPr>
                      <a:r>
                        <a:t>+5.56%</a:t>
                      </a:r>
                    </a:p>
                  </a:txBody>
                  <a:tcPr anchor="ctr">
                    <a:solidFill>
                      <a:srgbClr val="1418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