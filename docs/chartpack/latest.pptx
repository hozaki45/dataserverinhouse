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0F2F5"/>
                </a:solidFill>
              </a:defRPr>
            </a:pPr>
            <a:r>
              <a:t>Daily Market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175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0EA5E9"/>
                </a:solidFill>
              </a:defRPr>
            </a:pPr>
            <a:r>
              <a:t>Trade Date: 2026-03-11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3840480"/>
            <a:ext cx="393192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114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B929A"/>
                </a:solidFill>
              </a:defRPr>
            </a:pPr>
            <a:r>
              <a:t>JPX Derivative &amp; Commodity Analytics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217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29A"/>
                </a:solidFill>
              </a:defRPr>
            </a:pPr>
            <a:r>
              <a:t>DataServer In-House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2F5"/>
                </a:solidFill>
              </a:defRPr>
            </a:pPr>
            <a:r>
              <a:t>Power Forward Curves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29A"/>
                </a:solidFill>
              </a:defRPr>
            </a:pPr>
            <a:r>
              <a:t>East/West Base &amp; Peak monthly contracts (2026-03-11)</a:t>
            </a:r>
          </a:p>
        </p:txBody>
      </p:sp>
      <p:pic>
        <p:nvPicPr>
          <p:cNvPr id="6" name="Picture 5" descr="power_for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11643055" cy="56235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2F5"/>
                </a:solidFill>
              </a:defRPr>
            </a:pPr>
            <a:r>
              <a:t>Commodity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29A"/>
                </a:solidFill>
              </a:defRPr>
            </a:pPr>
            <a:r>
              <a:t>Front-month settlement prices as of 2026-03-11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051560"/>
          <a:ext cx="9509760" cy="5266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286000"/>
                <a:gridCol w="1188720"/>
                <a:gridCol w="1371600"/>
                <a:gridCol w="1188720"/>
                <a:gridCol w="118872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Asset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Contract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Settlement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Unit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Change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% Chg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Energy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Barge Gas Oil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202604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95,600.00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JPY/kl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+1600.00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+1.70%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Energy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Barge Gasoline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202604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110,000.00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JPY/kl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Energy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Barge Kerosene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202604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108,000.00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JPY/kl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Energy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Chukyo Gasoline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202604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100,000.00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JPY/kl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Energy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Chukyo Kerosene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202604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94,000.00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JPY/kl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Energy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Dubai Crude Oil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202603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104,930.00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JPY/kl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+4930.00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+4.93%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Energy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LNG (Platts JKM)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202604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2,756.00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USD/MMBtu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-261.00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-8.65%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Metals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Gold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26,099.00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JPY/g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+154.00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+0.59%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Metals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Palladium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202604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8,500.00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JPY/g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Metals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Platinum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10,966.00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JPY/g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-19.00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-0.17%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Metals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Silver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202604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420.00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JPY/10g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Industrial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Rubber (RSS3)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202603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374.50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JPY/kg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+1.50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+0.40%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Industrial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Rubber (TSR20)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202604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310.00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JPY/kg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Industrial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Shanghai Natural Rubber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202605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17,125.00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JPY/kg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+40.00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+0.23%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Agriculture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Azuki Beans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202603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12,300.00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JPY/bag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Agriculture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Corn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202605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39,000.00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JPY/t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Agriculture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Soybeans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202604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64,000.00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JPY/t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2F5"/>
                </a:solidFill>
              </a:defRPr>
            </a:pPr>
            <a:r>
              <a:t>Precious Metals Forward Curves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29A"/>
                </a:solidFill>
              </a:defRPr>
            </a:pPr>
            <a:r>
              <a:t>Gold &amp; Platinum (2026-03-11)</a:t>
            </a:r>
          </a:p>
        </p:txBody>
      </p:sp>
      <p:pic>
        <p:nvPicPr>
          <p:cNvPr id="6" name="Picture 5" descr="metals_for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11643055" cy="56235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2F5"/>
                </a:solidFill>
              </a:defRPr>
            </a:pPr>
            <a:r>
              <a:t>Energy Commodity Forward Curves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29A"/>
                </a:solidFill>
              </a:defRPr>
            </a:pPr>
            <a:r>
              <a:t>Dubai Crude Oil &amp; LNG Platts JKM (2026-03-11)</a:t>
            </a:r>
          </a:p>
        </p:txBody>
      </p:sp>
      <p:pic>
        <p:nvPicPr>
          <p:cNvPr id="6" name="Picture 5" descr="energy_for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11643055" cy="56235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2F5"/>
                </a:solidFill>
              </a:defRPr>
            </a:pPr>
            <a:r>
              <a:t>Cross-Market Daily Changes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29A"/>
                </a:solidFill>
              </a:defRPr>
            </a:pPr>
            <a:r>
              <a:t>All commodities sorted by absolute % change</a:t>
            </a:r>
          </a:p>
        </p:txBody>
      </p:sp>
      <p:pic>
        <p:nvPicPr>
          <p:cNvPr id="6" name="Picture 5" descr="cross_market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11643055" cy="56235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2F5"/>
                </a:solidFill>
              </a:defRPr>
            </a:pPr>
            <a:r>
              <a:t>Top Power Futures Movers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29A"/>
                </a:solidFill>
              </a:defRPr>
            </a:pPr>
            <a:r>
              <a:t>Largest absolute settlement price changes vs previous day (2026-03-11)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051560"/>
          <a:ext cx="10149840" cy="46817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286000"/>
                <a:gridCol w="1005840"/>
                <a:gridCol w="1097280"/>
                <a:gridCol w="1097280"/>
                <a:gridCol w="109728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Instrument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Underlying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Month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Price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Prev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Change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% Chg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FUT_EWB_260730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West Base (Monthly)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202607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16.03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18.39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-2.36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-12.83%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FUT_EWB_260828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West Base (Monthly)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202608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15.98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18.10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-2.12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-11.71%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FUT_EEPW_260312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East Peak (Weekly)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20260313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13.96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15.96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-2.00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-12.53%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FUT_EWB_260929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West Base (Monthly)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202609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15.76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17.76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-2.00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-11.26%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FUT_EWB_260428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West Base (Monthly)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202604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16.26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18.25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-1.99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-10.90%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FUT_EWB_260529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West Base (Monthly)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202605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15.94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17.83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-1.89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-10.60%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FUT_EWB_260629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West Base (Monthly)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202606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15.90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17.70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-1.80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-10.17%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FUT_EEP_260929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East Peak (Monthly)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202609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23.69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25.47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-1.78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-6.99%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FUT_EWBY_260326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West Base (Yearly)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202604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15.49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17.27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-1.78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-10.31%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FUT_EEP_260828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East Peak (Monthly)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202608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23.40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25.15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-1.75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-6.96%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FUT_EWB_270330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West Base (Monthly)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202703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14.37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16.07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-1.70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-10.58%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FUT_EWB_261030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West Base (Monthly)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202610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14.24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15.89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-1.65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-10.38%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FUT_EEP_260730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East Peak (Monthly)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202607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23.46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25.08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-1.62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-6.46%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FUT_EWB_261230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West Base (Monthly)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202612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15.51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17.03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-1.52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-8.93%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FUT_EEP_261029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East Peak (Monthly)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202610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21.66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23.15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-1.49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-6.44%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