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2F5"/>
                </a:solidFill>
              </a:defRPr>
            </a:pPr>
            <a:r>
              <a:t>Daily Market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EA5E9"/>
                </a:solidFill>
              </a:defRPr>
            </a:pPr>
            <a:r>
              <a:t>Trade Date: 2026-03-23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840480"/>
            <a:ext cx="39319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29A"/>
                </a:solidFill>
              </a:defRPr>
            </a:pPr>
            <a:r>
              <a:t>JPX Derivative &amp; Commodity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217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29A"/>
                </a:solidFill>
              </a:defRPr>
            </a:pPr>
            <a:r>
              <a:t>DataServer In-House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Power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East/West Base &amp; Peak monthly contracts (2026-03-23)</a:t>
            </a:r>
          </a:p>
        </p:txBody>
      </p:sp>
      <p:pic>
        <p:nvPicPr>
          <p:cNvPr id="6" name="Picture 5" descr="pow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Commodity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Front-month settlement prices as of 2026-03-23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950976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286000"/>
                <a:gridCol w="1188720"/>
                <a:gridCol w="1371600"/>
                <a:gridCol w="1188720"/>
                <a:gridCol w="118872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Asset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Settlement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 Oil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115,900.00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140,000.00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140,000.00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130,000.00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Dubai Crude Oil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136,060.00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+220.00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+0.16%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LNG (Platts JKM)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3,467.00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USD/MMBtu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+257.00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+8.01%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Gold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21,683.00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-3048.00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-12.32%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Palladium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7,200.00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-7.69%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Platinum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8,776.00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-901.00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-9.31%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Silver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350.00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JPY/10g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-50.00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-12.50%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(RSS3)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370.00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-1.33%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(TSR20)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307.00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-3.00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-0.97%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Shanghai Natural Rubber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16,130.00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+95.00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+0.59%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Azuki 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12,300.00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JPY/bag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Corn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39,000.00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Soybeans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64,000.00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Precious Metals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Gold &amp; Platinum (2026-03-23)</a:t>
            </a:r>
          </a:p>
        </p:txBody>
      </p:sp>
      <p:pic>
        <p:nvPicPr>
          <p:cNvPr id="6" name="Picture 5" descr="metal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Energy Commodity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Dubai Crude Oil &amp; LNG Platts JKM (2026-03-23)</a:t>
            </a:r>
          </a:p>
        </p:txBody>
      </p:sp>
      <p:pic>
        <p:nvPicPr>
          <p:cNvPr id="6" name="Picture 5" descr="energy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Cross-Market Daily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All commodities sorted by absolute % change</a:t>
            </a:r>
          </a:p>
        </p:txBody>
      </p:sp>
      <p:pic>
        <p:nvPicPr>
          <p:cNvPr id="6" name="Picture 5" descr="cross_mark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Top Power Futures Movers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Largest absolute settlement price changes vs previous day (2026-03-23)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51560"/>
          <a:ext cx="1014984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1005840"/>
                <a:gridCol w="1097280"/>
                <a:gridCol w="109728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Instrument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Underlying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Prev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FUT_EEP_260828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29.12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24.39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+4.73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+19.39%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FUT_EEP_260929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28.97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24.30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+4.67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+19.22%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FUT_EEP_260730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29.40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24.78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+4.62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+18.64%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FUT_EWB_260730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21.69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17.56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+4.13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+23.52%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FUT_EWB_260828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21.91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17.88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+4.03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+22.54%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FUT_EWB_260929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21.65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17.65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+22.66%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FUT_EWB_261230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20.15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16.39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+3.76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+22.94%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FUT_EWB_270129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20.76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+3.72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+21.83%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FUT_EWB_270226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20.77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17.11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+3.66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+21.39%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FUT_EEB_260428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22.35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18.82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+3.53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+18.76%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FUT_EEB_260629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23.42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19.89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+3.53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+17.75%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FUT_EEB_260730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19.52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+3.52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+18.03%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FUT_EEB_260529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22.14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18.65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+3.49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+18.71%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FUT_EEB_260828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23.23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19.85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+3.38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+17.03%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FUT_EEP_260629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26.36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23.00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+3.36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+14.61%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