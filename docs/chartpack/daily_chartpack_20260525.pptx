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0F2F5"/>
                </a:solidFill>
              </a:defRPr>
            </a:pPr>
            <a:r>
              <a:t>Daily Market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0175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0EA5E9"/>
                </a:solidFill>
              </a:defRPr>
            </a:pPr>
            <a:r>
              <a:t>Trade Date: 2026-05-25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3840480"/>
            <a:ext cx="393192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41148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B929A"/>
                </a:solidFill>
              </a:defRPr>
            </a:pPr>
            <a:r>
              <a:t>JPX Derivative &amp; Commodity Analytics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217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29A"/>
                </a:solidFill>
              </a:defRPr>
            </a:pPr>
            <a:r>
              <a:t>DataServer In-House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2F5"/>
                </a:solidFill>
              </a:defRPr>
            </a:pPr>
            <a:r>
              <a:t>Power Forward Curves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29A"/>
                </a:solidFill>
              </a:defRPr>
            </a:pPr>
            <a:r>
              <a:t>East/West Base &amp; Peak monthly contracts (2026-05-25)</a:t>
            </a:r>
          </a:p>
        </p:txBody>
      </p:sp>
      <p:pic>
        <p:nvPicPr>
          <p:cNvPr id="6" name="Picture 5" descr="power_forw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11643055" cy="56235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2F5"/>
                </a:solidFill>
              </a:defRPr>
            </a:pPr>
            <a:r>
              <a:t>Commodity Snapshot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29A"/>
                </a:solidFill>
              </a:defRPr>
            </a:pPr>
            <a:r>
              <a:t>Front-month settlement prices as of 2026-05-25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051560"/>
          <a:ext cx="9509760" cy="52669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2286000"/>
                <a:gridCol w="1188720"/>
                <a:gridCol w="1371600"/>
                <a:gridCol w="1188720"/>
                <a:gridCol w="1188720"/>
                <a:gridCol w="1005840"/>
              </a:tblGrid>
              <a:tr h="292608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Category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Asset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Contract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Settlement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Unit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Change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% Chg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Barge Gas Oil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109,700.00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JPY/kl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Barge Gasoline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100,000.00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JPY/kl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Barge Kerosene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105,000.00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JPY/kl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Chukyo Gasoline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94,100.00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JPY/kl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-5900.00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-5.90%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Chukyo Kerosene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105,000.00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JPY/kl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Dubai Crude Oil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202605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102,000.00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JPY/kl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-390.00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-0.38%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LNG (Platts JKM)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202607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2,921.00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USD/MMBtu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-34.00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-1.15%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Metals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Gold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23,154.00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JPY/g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+161.00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+0.70%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Metals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Palladium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7,000.00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JPY/g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Metals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Platinum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9,664.00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JPY/g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-202.00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-2.05%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Metals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Silver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390.00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JPY/10g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Industrial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Rubber (RSS3)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202605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394.00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JPY/kg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-3.00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-0.76%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Industrial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Rubber (TSR20)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350.00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JPY/kg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Industrial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Shanghai Natural Rubber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202609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17,575.00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JPY/kg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+90.00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+0.51%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Agriculture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Azuki Beans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202605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12,300.00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JPY/bag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Agriculture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Corn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202607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39,000.00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JPY/t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Agriculture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Soybeans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64,000.00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JPY/t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2F5"/>
                </a:solidFill>
              </a:defRPr>
            </a:pPr>
            <a:r>
              <a:t>Precious Metals Forward Curves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29A"/>
                </a:solidFill>
              </a:defRPr>
            </a:pPr>
            <a:r>
              <a:t>Gold &amp; Platinum (2026-05-25)</a:t>
            </a:r>
          </a:p>
        </p:txBody>
      </p:sp>
      <p:pic>
        <p:nvPicPr>
          <p:cNvPr id="6" name="Picture 5" descr="metals_forw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11643055" cy="56235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2F5"/>
                </a:solidFill>
              </a:defRPr>
            </a:pPr>
            <a:r>
              <a:t>Energy Commodity Forward Curves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29A"/>
                </a:solidFill>
              </a:defRPr>
            </a:pPr>
            <a:r>
              <a:t>Dubai Crude Oil &amp; LNG Platts JKM (2026-05-25)</a:t>
            </a:r>
          </a:p>
        </p:txBody>
      </p:sp>
      <p:pic>
        <p:nvPicPr>
          <p:cNvPr id="6" name="Picture 5" descr="energy_forw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11643055" cy="56235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2F5"/>
                </a:solidFill>
              </a:defRPr>
            </a:pPr>
            <a:r>
              <a:t>Cross-Market Daily Changes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29A"/>
                </a:solidFill>
              </a:defRPr>
            </a:pPr>
            <a:r>
              <a:t>All commodities sorted by absolute % change</a:t>
            </a:r>
          </a:p>
        </p:txBody>
      </p:sp>
      <p:pic>
        <p:nvPicPr>
          <p:cNvPr id="6" name="Picture 5" descr="cross_market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11643055" cy="56235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2F5"/>
                </a:solidFill>
              </a:defRPr>
            </a:pPr>
            <a:r>
              <a:t>Top Power Futures Movers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29A"/>
                </a:solidFill>
              </a:defRPr>
            </a:pPr>
            <a:r>
              <a:t>Largest absolute settlement price changes vs previous day (2026-05-25)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74320" y="1051560"/>
          <a:ext cx="10149840" cy="46817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2286000"/>
                <a:gridCol w="1005840"/>
                <a:gridCol w="1097280"/>
                <a:gridCol w="1097280"/>
                <a:gridCol w="1097280"/>
                <a:gridCol w="1005840"/>
              </a:tblGrid>
              <a:tr h="292608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Instrument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Underlying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Month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Price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Prev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Change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% Chg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FUT_EWPW_260528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West Peak (Weekly)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20260529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17.19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14.79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+2.40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+16.23%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FUT_EEP_260730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Peak (Monthly)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202607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31.63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29.55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+2.08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+7.04%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FUT_EEP_260828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Peak (Monthly)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31.41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29.33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+2.08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+7.09%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FUT_EEP_260929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Peak (Monthly)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202609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30.16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28.13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+2.03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+7.22%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FUT_EEPW_260528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Peak (Weekly)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20260529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22.23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20.99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+1.24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+5.91%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FUT_ECB_260629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電力(中部・ベース)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19.85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20.86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-1.01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-4.84%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FUT_ECB_260730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電力(中部・ベース)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202607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21.85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22.84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-0.99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-4.33%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FUT_ECB_260828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電力(中部・ベース)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202608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21.87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22.84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-0.97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-4.25%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FUT_ECB_260929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電力(中部・ベース)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202609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21.49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22.40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-0.91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-4.06%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FUT_EEB_260629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Base (Monthly)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21.42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22.03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-0.61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-2.77%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FUT_EWP_260528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West Peak (Monthly)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202605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18.13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17.61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+0.52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+2.95%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FUT_ECP_260528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電力(中部・日中)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202605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19.64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19.14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+0.50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+2.61%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FUT_EWBW_260528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West Base (Weekly)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20260529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15.90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15.40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+0.50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+3.25%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FUT_EEB_260730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Base (Monthly)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202607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22.82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23.28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-0.46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-1.98%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FUT_EEB_260828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Base (Monthly)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22.71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23.17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-0.46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-1.99%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